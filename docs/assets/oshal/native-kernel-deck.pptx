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But the same profile found the exception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DCEBF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superTrendM11</c:v>
                  </c:pt>
                  <c:pt idx="1">
                    <c:v>dmiAdx</c:v>
                  </c:pt>
                  <c:pt idx="2">
                    <c:v>adaptiveLaguerre</c:v>
                  </c:pt>
                  <c:pt idx="3">
                    <c:v>dmiWave</c:v>
                  </c:pt>
                  <c:pt idx="4">
                    <c:v>chandelierBands</c:v>
                  </c:pt>
                  <c:pt idx="5">
                    <c:v>movingMedian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274</c:v>
                </c:pt>
                <c:pt idx="1">
                  <c:v>180</c:v>
                </c:pt>
                <c:pt idx="2">
                  <c:v>135</c:v>
                </c:pt>
                <c:pt idx="3">
                  <c:v>116</c:v>
                </c:pt>
                <c:pt idx="4">
                  <c:v>116</c:v>
                </c:pt>
                <c:pt idx="5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DCEBF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FA3C4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FA3C4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E33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0B1E33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temptation, not the answer. Everyone in the room has felt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controller routes, queues, dispatches and waits. It never calls a model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argument. Say it once, plainly,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runtimes instead of one is the detail that usually lands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numeric layer: 1245 ms for 200,000 bars. Fifteen passes over every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money, and the ideal port target: small, numeric, no I/O.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the range, never the peak. One run read 11.1x; repeats put it near 5x.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Reachable only because three transcendental constants are computed JS-side and passed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Boundary-per-bar is the mistake that usually kills this kind of project outright.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approximate-tolerance test passes this. That is the argument for exactness.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reachable in plain TypeScript. Say so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limits before anyone has to ask. This slide is why the rest is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HAL_COVER">
    <p:bg>
      <p:bgPr>
        <a:solidFill>
          <a:srgbClr val="07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2286000"/>
            <a:ext cx="13716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41"/>
          <p:cNvSpPr/>
          <p:nvPr>
            <p:ph idx="141" type="title" hasCustomPrompt="1"/>
          </p:nvPr>
        </p:nvSpPr>
        <p:spPr>
          <a:xfrm>
            <a:off x="658368" y="2395728"/>
            <a:ext cx="104363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>
            <p:ph idx="142" type="body" hasCustomPrompt="1"/>
          </p:nvPr>
        </p:nvSpPr>
        <p:spPr>
          <a:xfrm>
            <a:off x="658368" y="3877056"/>
            <a:ext cx="10436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HAL_SECTION">
    <p:bg>
      <p:bgPr>
        <a:solidFill>
          <a:srgbClr val="07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2286000"/>
            <a:ext cx="13716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41"/>
          <p:cNvSpPr/>
          <p:nvPr>
            <p:ph idx="141" type="title" hasCustomPrompt="1"/>
          </p:nvPr>
        </p:nvSpPr>
        <p:spPr>
          <a:xfrm>
            <a:off x="658368" y="2761488"/>
            <a:ext cx="1043635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58368" y="6382512"/>
            <a:ext cx="996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3C4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 we rewrite it in a compiled language?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A3C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HAL_CONTENT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>
            <p:ph idx="141" type="body" hasCustomPrompt="1"/>
          </p:nvPr>
        </p:nvSpPr>
        <p:spPr>
          <a:xfrm>
            <a:off x="658368" y="1755648"/>
            <a:ext cx="10875264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658368" y="6382512"/>
            <a:ext cx="996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3C4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 we rewrite it in a compiled language?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HAL_CANVAS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58368" y="6382512"/>
            <a:ext cx="996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3C4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 we rewrite it in a compiled language?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HAL_FEATURE">
    <p:bg>
      <p:bgPr>
        <a:solidFill>
          <a:srgbClr val="07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82512"/>
            <a:ext cx="996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3C4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 we rewrite it in a compiled language?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A3C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HAL_CLOSING">
    <p:bg>
      <p:bgPr>
        <a:solidFill>
          <a:srgbClr val="07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635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2286000"/>
            <a:ext cx="13716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41"/>
          <p:cNvSpPr/>
          <p:nvPr>
            <p:ph idx="141" type="title" hasCustomPrompt="1"/>
          </p:nvPr>
        </p:nvSpPr>
        <p:spPr>
          <a:xfrm>
            <a:off x="658368" y="2487168"/>
            <a:ext cx="1043635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>
            <p:ph idx="142" type="body" hasCustomPrompt="1"/>
          </p:nvPr>
        </p:nvSpPr>
        <p:spPr>
          <a:xfrm>
            <a:off x="658368" y="3803904"/>
            <a:ext cx="1043635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A3C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/>
          <p:cNvSpPr/>
          <p:nvPr>
            <p:ph idx="141" type="title" hasCustomPrompt="1"/>
          </p:nvPr>
        </p:nvSpPr>
        <p:spPr>
          <a:xfrm>
            <a:off x="658368" y="2395728"/>
            <a:ext cx="104363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 we rewrite it in a compiled language?</a:t>
            </a:r>
            <a:endParaRPr lang="en-US" sz="5400" dirty="0"/>
          </a:p>
        </p:txBody>
      </p:sp>
      <p:sp>
        <p:nvSpPr>
          <p:cNvPr id="3" name="Text 41"/>
          <p:cNvSpPr/>
          <p:nvPr>
            <p:ph idx="142" type="body" hasCustomPrompt="1"/>
          </p:nvPr>
        </p:nvSpPr>
        <p:spPr>
          <a:xfrm>
            <a:off x="658368" y="3877056"/>
            <a:ext cx="10436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answer · node 24.11 · win32-x64 · dev box, swarm running · taken 2026-07-29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84832"/>
            <a:ext cx="999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600" b="1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instinct is to blame the language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011680" y="4261104"/>
            <a:ext cx="816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everything, and the fix is heroic.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A3C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we measured the control plane first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55648"/>
          <a:ext cx="10875264" cy="914400"/>
        </p:xfrm>
        <a:graphic>
          <a:graphicData uri="http://schemas.openxmlformats.org/drawingml/2006/table">
            <a:tbl>
              <a:tblPr/>
              <a:tblGrid>
                <a:gridCol w="5437632"/>
                <a:gridCol w="54376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pure-JS API route, no I/O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route + one Postgres round-trip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6-35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 work to a language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2,000-120,000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84832"/>
            <a:ext cx="999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600" b="1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rewrite optimizes the 4 milliseconds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011680" y="4261104"/>
            <a:ext cx="816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wait stays exactly where it 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A3C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more reasons it gets worse</a:t>
            </a:r>
            <a:endParaRPr lang="en-US" sz="3000" dirty="0"/>
          </a:p>
        </p:txBody>
      </p:sp>
      <p:sp>
        <p:nvSpPr>
          <p:cNvPr id="3" name="Text 40"/>
          <p:cNvSpPr/>
          <p:nvPr>
            <p:ph idx="141" type="body" hasCustomPrompt="1"/>
          </p:nvPr>
        </p:nvSpPr>
        <p:spPr>
          <a:xfrm>
            <a:off x="658368" y="1755648"/>
            <a:ext cx="10875264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CLIs we orchestrate are themselves Node programs — a compiled control plane still ships a JavaScript runtime to run its own workers</a:t>
            </a:r>
            <a:endParaRPr lang="en-US" sz="1800" dirty="0"/>
          </a:p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browser UI cannot be compiled, because browsers run JavaScript</a:t>
            </a:r>
            <a:endParaRPr lang="en-US" sz="1800" dirty="0"/>
          </a:p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proposal: ~249K lines of TypeScript, 579 end-to-end tests, years of encoded decisions — to chase 4 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the same profile found the exception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755648"/>
          <a:ext cx="10875264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that costs in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2807208"/>
            <a:ext cx="3442208" cy="2377440"/>
          </a:xfrm>
          <a:prstGeom prst="rect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3118104"/>
            <a:ext cx="3003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77824" y="4133088"/>
            <a:ext cx="3003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five-year 1-minute series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74896" y="2807208"/>
            <a:ext cx="3442208" cy="2377440"/>
          </a:xfrm>
          <a:prstGeom prst="rect">
            <a:avLst/>
          </a:prstGeom>
          <a:solidFill>
            <a:srgbClr val="60A5FA">
              <a:alpha val="16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352" y="3118104"/>
            <a:ext cx="3003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hour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94352" y="4133088"/>
            <a:ext cx="3003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500-combination parameter sweep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91424" y="2807208"/>
            <a:ext cx="3442208" cy="2377440"/>
          </a:xfrm>
          <a:prstGeom prst="rect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10880" y="3118104"/>
            <a:ext cx="3003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 lines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8310880" y="4133088"/>
            <a:ext cx="3003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pure arithmetic, no I/O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Ported to Rust: the numbers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55648"/>
          <a:ext cx="10875264" cy="914400"/>
        </p:xfrm>
        <a:graphic>
          <a:graphicData uri="http://schemas.openxmlformats.org/drawingml/2006/table">
            <a:tbl>
              <a:tblPr/>
              <a:tblGrid>
                <a:gridCol w="2175053"/>
                <a:gridCol w="2175053"/>
                <a:gridCol w="2175053"/>
                <a:gridCol w="2175053"/>
                <a:gridCol w="2175053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Bars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Before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Speedup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Across runs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3.7-7.7x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4.9-9.1x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1474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4.4-8.5x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84832"/>
            <a:ext cx="999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600" b="1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Defensible summary: 5 to 7 times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011680" y="4261104"/>
            <a:ext cx="816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39KB WebAssembly module — with identical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A3C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Bit-exact, not close enough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2807208"/>
            <a:ext cx="3442208" cy="2377440"/>
          </a:xfrm>
          <a:prstGeom prst="rect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3118104"/>
            <a:ext cx="3003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ULP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77824" y="4133088"/>
            <a:ext cx="3003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output series identical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74896" y="2807208"/>
            <a:ext cx="3442208" cy="2377440"/>
          </a:xfrm>
          <a:prstGeom prst="rect">
            <a:avLst/>
          </a:prstGeom>
          <a:solidFill>
            <a:srgbClr val="60A5FA">
              <a:alpha val="16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352" y="3118104"/>
            <a:ext cx="3003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94352" y="4133088"/>
            <a:ext cx="3003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with the kernel present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91424" y="2807208"/>
            <a:ext cx="3442208" cy="2377440"/>
          </a:xfrm>
          <a:prstGeom prst="rect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10880" y="3118104"/>
            <a:ext cx="3003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310880" y="4133088"/>
            <a:ext cx="3003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assertions when absent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decisions that made a second implementation safe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14906" y="3266237"/>
            <a:ext cx="8362188" cy="25603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631442" y="2995574"/>
            <a:ext cx="566928" cy="566928"/>
          </a:xfrm>
          <a:prstGeom prst="ellipse">
            <a:avLst/>
          </a:prstGeom>
          <a:solidFill>
            <a:srgbClr val="22D3EE"/>
          </a:solidFill>
          <a:ln w="31750">
            <a:solidFill>
              <a:srgbClr val="0B1E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31442" y="299557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3690518"/>
            <a:ext cx="25130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the language boundary once per run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92854"/>
            <a:ext cx="23667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once per calculation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18838" y="2995574"/>
            <a:ext cx="566928" cy="566928"/>
          </a:xfrm>
          <a:prstGeom prst="ellipse">
            <a:avLst/>
          </a:prstGeom>
          <a:solidFill>
            <a:srgbClr val="22D3EE"/>
          </a:solidFill>
          <a:ln w="31750">
            <a:solidFill>
              <a:srgbClr val="0B1E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8838" y="299557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45764" y="3690518"/>
            <a:ext cx="25130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bit-exactness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8916" y="4092854"/>
            <a:ext cx="23667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epsilon hides real divergence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06234" y="2995574"/>
            <a:ext cx="566928" cy="566928"/>
          </a:xfrm>
          <a:prstGeom prst="ellipse">
            <a:avLst/>
          </a:prstGeom>
          <a:solidFill>
            <a:srgbClr val="22D3EE"/>
          </a:solidFill>
          <a:ln w="31750">
            <a:solidFill>
              <a:srgbClr val="0B1E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6234" y="299557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3160" y="3690518"/>
            <a:ext cx="25130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the reference implementation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6312" y="4092854"/>
            <a:ext cx="23667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disagree, the port is wrong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93630" y="2995574"/>
            <a:ext cx="566928" cy="566928"/>
          </a:xfrm>
          <a:prstGeom prst="ellipse">
            <a:avLst/>
          </a:prstGeom>
          <a:solidFill>
            <a:srgbClr val="22D3EE"/>
          </a:solidFill>
          <a:ln w="31750">
            <a:solidFill>
              <a:srgbClr val="0B1E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93630" y="299557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20556" y="3690518"/>
            <a:ext cx="25130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optional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93708" y="4092854"/>
            <a:ext cx="23667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inherits the toolchain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bug the guard caught on its first run</a:t>
            </a:r>
            <a:endParaRPr lang="en-US" sz="3000" dirty="0"/>
          </a:p>
        </p:txBody>
      </p:sp>
      <p:sp>
        <p:nvSpPr>
          <p:cNvPr id="3" name="Text 40"/>
          <p:cNvSpPr/>
          <p:nvPr>
            <p:ph idx="141" type="body" hasCustomPrompt="1"/>
          </p:nvPr>
        </p:nvSpPr>
        <p:spPr>
          <a:xfrm>
            <a:off x="658368" y="1755648"/>
            <a:ext cx="10875264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relied on "unwritten output slots read zero" — true in the original, which allocated fresh arrays per call</a:t>
            </a:r>
            <a:endParaRPr lang="en-US" sz="1800" dirty="0"/>
          </a:p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loader REUSED its output buffer, for speed</a:t>
            </a:r>
            <a:endParaRPr lang="en-US" sz="1800" dirty="0"/>
          </a:p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on the first call, wrong on every call after, and no error either way</a:t>
            </a:r>
            <a:endParaRPr lang="en-US" sz="1800" dirty="0"/>
          </a:p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reproducible when a smaller input follows a larger 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Compiled or just better laid out?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755648"/>
            <a:ext cx="5236464" cy="4480560"/>
          </a:xfrm>
          <a:prstGeom prst="rect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2048256"/>
            <a:ext cx="1929384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" y="2048256"/>
            <a:ext cx="443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actually won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50976" y="2578608"/>
            <a:ext cx="4651248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53"/>
              </a:spcAft>
              <a:buSzPct val="100000"/>
              <a:buChar char="•"/>
            </a:pPr>
            <a:r>
              <a:rPr lang="en-US" sz="155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arrays instead of objects</a:t>
            </a:r>
            <a:endParaRPr lang="en-US" sz="1550" dirty="0"/>
          </a:p>
          <a:p>
            <a:pPr marL="177800" indent="-177800">
              <a:lnSpc>
                <a:spcPct val="110000"/>
              </a:lnSpc>
              <a:spcAft>
                <a:spcPts val="853"/>
              </a:spcAft>
              <a:buSzPct val="100000"/>
              <a:buChar char="•"/>
            </a:pPr>
            <a:r>
              <a:rPr lang="en-US" sz="155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per-bar allocation</a:t>
            </a:r>
            <a:endParaRPr lang="en-US" sz="1550" dirty="0"/>
          </a:p>
          <a:p>
            <a:pPr marL="177800" indent="-177800">
              <a:lnSpc>
                <a:spcPct val="110000"/>
              </a:lnSpc>
              <a:spcAft>
                <a:spcPts val="853"/>
              </a:spcAft>
              <a:buSzPct val="100000"/>
              <a:buChar char="•"/>
            </a:pPr>
            <a:r>
              <a:rPr lang="en-US" sz="155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reused output buffer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97168" y="1755648"/>
            <a:ext cx="5236464" cy="4480560"/>
          </a:xfrm>
          <a:prstGeom prst="rect">
            <a:avLst/>
          </a:prstGeom>
          <a:solidFill>
            <a:srgbClr val="60A5FA">
              <a:alpha val="16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9776" y="2048256"/>
            <a:ext cx="1124712" cy="3657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6699504" y="2048256"/>
            <a:ext cx="443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then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9776" y="2578608"/>
            <a:ext cx="4651248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53"/>
              </a:spcAft>
              <a:buSzPct val="100000"/>
              <a:buChar char="•"/>
            </a:pPr>
            <a:r>
              <a:rPr lang="en-US" sz="155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no boxing, inlining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0"/>
          <p:cNvSpPr/>
          <p:nvPr>
            <p:ph idx="140" type="title" hasCustomPrompt="1"/>
          </p:nvPr>
        </p:nvSpPr>
        <p:spPr>
          <a:xfrm>
            <a:off x="658368" y="530352"/>
            <a:ext cx="108752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are not claiming</a:t>
            </a:r>
            <a:endParaRPr lang="en-US" sz="3000" dirty="0"/>
          </a:p>
        </p:txBody>
      </p:sp>
      <p:sp>
        <p:nvSpPr>
          <p:cNvPr id="3" name="Text 40"/>
          <p:cNvSpPr/>
          <p:nvPr>
            <p:ph idx="141" type="body" hasCustomPrompt="1"/>
          </p:nvPr>
        </p:nvSpPr>
        <p:spPr>
          <a:xfrm>
            <a:off x="658368" y="1755648"/>
            <a:ext cx="10875264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busy machine — the baseline swung 2.1x between identical runs; no idle-host or Linux number exists yet</a:t>
            </a:r>
            <a:endParaRPr lang="en-US" sz="1800" dirty="0"/>
          </a:p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subsystem in isolation, not an end-to-end backtest</a:t>
            </a:r>
            <a:endParaRPr lang="en-US" sz="1800" dirty="0"/>
          </a:p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results out of the module costs about half the gain</a:t>
            </a:r>
            <a:endParaRPr lang="en-US" sz="1800" dirty="0"/>
          </a:p>
          <a:p>
            <a:pPr marL="203200" indent="-203200">
              <a:lnSpc>
                <a:spcPct val="118000"/>
              </a:lnSpc>
              <a:spcAft>
                <a:spcPts val="1260"/>
              </a:spcAft>
              <a:buSzPct val="100000"/>
              <a:buChar char="•"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input is a seeded random walk — not a market simulation, and no strategy result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84832"/>
            <a:ext cx="999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600" b="1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transferable lesson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011680" y="4261104"/>
            <a:ext cx="816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first. Most systems are waiting, not computing.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2112" y="6382512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A3C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/>
          <p:cNvSpPr/>
          <p:nvPr>
            <p:ph idx="141" type="title" hasCustomPrompt="1"/>
          </p:nvPr>
        </p:nvSpPr>
        <p:spPr>
          <a:xfrm>
            <a:off x="658368" y="2487168"/>
            <a:ext cx="10436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3" name="Text 41"/>
          <p:cNvSpPr/>
          <p:nvPr>
            <p:ph idx="142" type="body" hasCustomPrompt="1"/>
          </p:nvPr>
        </p:nvSpPr>
        <p:spPr>
          <a:xfrm>
            <a:off x="658368" y="3803904"/>
            <a:ext cx="104363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columnar typed arrays in TypeScript before porting anything else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 an idle host, and on Linux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github.com/emeraldcoastsystemsgroup/oshal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OSHAL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we rewrite it in a compiled language?</dc:title>
  <dc:subject>Should we rewrite it in a compiled language?</dc:subject>
  <dc:creator>OSHAL</dc:creator>
  <cp:lastModifiedBy>OSHAL</cp:lastModifiedBy>
  <cp:revision>1</cp:revision>
  <dcterms:created xsi:type="dcterms:W3CDTF">2026-07-30T05:13:43Z</dcterms:created>
  <dcterms:modified xsi:type="dcterms:W3CDTF">2026-07-30T05:13:43Z</dcterms:modified>
</cp:coreProperties>
</file>