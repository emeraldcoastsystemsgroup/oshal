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6095847" y="1115568"/>
            <a:ext cx="0" cy="530351"/>
          </a:xfrm>
          <a:prstGeom prst="line">
            <a:avLst/>
          </a:prstGeom>
          <a:ln w="19050">
            <a:solidFill>
              <a:srgbClr val="2B3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524791" y="1521819"/>
            <a:ext cx="1165298" cy="330669"/>
          </a:xfrm>
          <a:prstGeom prst="line">
            <a:avLst/>
          </a:prstGeom>
          <a:ln w="19050">
            <a:solidFill>
              <a:srgbClr val="2B3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630732" y="2316643"/>
            <a:ext cx="1453102" cy="118015"/>
          </a:xfrm>
          <a:prstGeom prst="line">
            <a:avLst/>
          </a:prstGeom>
          <a:ln w="19050">
            <a:solidFill>
              <a:srgbClr val="2B3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33893" y="2688867"/>
            <a:ext cx="646692" cy="477831"/>
          </a:xfrm>
          <a:prstGeom prst="line">
            <a:avLst/>
          </a:prstGeom>
          <a:ln w="19050">
            <a:solidFill>
              <a:srgbClr val="2B3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211110" y="2688867"/>
            <a:ext cx="646691" cy="477831"/>
          </a:xfrm>
          <a:prstGeom prst="line">
            <a:avLst/>
          </a:prstGeom>
          <a:ln w="19050">
            <a:solidFill>
              <a:srgbClr val="2B3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107860" y="2316643"/>
            <a:ext cx="1453103" cy="118015"/>
          </a:xfrm>
          <a:prstGeom prst="line">
            <a:avLst/>
          </a:prstGeom>
          <a:ln w="19050">
            <a:solidFill>
              <a:srgbClr val="2B3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501605" y="1521819"/>
            <a:ext cx="1165298" cy="330669"/>
          </a:xfrm>
          <a:prstGeom prst="line">
            <a:avLst/>
          </a:prstGeom>
          <a:ln w="19050">
            <a:solidFill>
              <a:srgbClr val="2B3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848959" y="621792"/>
            <a:ext cx="493776" cy="493776"/>
          </a:xfrm>
          <a:prstGeom prst="ellipse">
            <a:avLst/>
          </a:prstGeom>
          <a:solidFill>
            <a:srgbClr val="141F3D"/>
          </a:solidFill>
          <a:ln w="190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36226" y="1120999"/>
            <a:ext cx="493776" cy="493776"/>
          </a:xfrm>
          <a:prstGeom prst="ellipse">
            <a:avLst/>
          </a:prstGeom>
          <a:solidFill>
            <a:srgbClr val="141F3D"/>
          </a:solidFill>
          <a:ln w="190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77644" y="2242708"/>
            <a:ext cx="493776" cy="493776"/>
          </a:xfrm>
          <a:prstGeom prst="ellipse">
            <a:avLst/>
          </a:prstGeom>
          <a:solidFill>
            <a:srgbClr val="141F3D"/>
          </a:solidFill>
          <a:ln w="190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40817" y="3142248"/>
            <a:ext cx="493776" cy="493776"/>
          </a:xfrm>
          <a:prstGeom prst="ellipse">
            <a:avLst/>
          </a:prstGeom>
          <a:solidFill>
            <a:srgbClr val="141F3D"/>
          </a:solidFill>
          <a:ln w="190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57101" y="3142248"/>
            <a:ext cx="493776" cy="493776"/>
          </a:xfrm>
          <a:prstGeom prst="ellipse">
            <a:avLst/>
          </a:prstGeom>
          <a:solidFill>
            <a:srgbClr val="141F3D"/>
          </a:solidFill>
          <a:ln w="190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0274" y="2242708"/>
            <a:ext cx="493776" cy="493776"/>
          </a:xfrm>
          <a:prstGeom prst="ellipse">
            <a:avLst/>
          </a:prstGeom>
          <a:solidFill>
            <a:srgbClr val="141F3D"/>
          </a:solidFill>
          <a:ln w="190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61692" y="1120999"/>
            <a:ext cx="493776" cy="493776"/>
          </a:xfrm>
          <a:prstGeom prst="ellipse">
            <a:avLst/>
          </a:prstGeom>
          <a:solidFill>
            <a:srgbClr val="141F3D"/>
          </a:solidFill>
          <a:ln w="190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47207" y="1645919"/>
            <a:ext cx="1097280" cy="1097280"/>
          </a:xfrm>
          <a:prstGeom prst="ellipse">
            <a:avLst/>
          </a:prstGeom>
          <a:solidFill>
            <a:srgbClr val="34D399"/>
          </a:solidFill>
          <a:ln w="3175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OSHAL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698480" cy="23774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7DD3FC"/>
                </a:solidFill>
                <a:latin typeface="Segoe UI"/>
              </a:rPr>
              <a:t>OSHAL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Open Swarm Harness Agent LLM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Any harness.   Any agent.   Any LLM.   One swarm.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 live framework for agent-backed applications — apps, tools, agents, workflows and UI expand at runtime.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The story in 30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900" b="1">
                <a:solidFill>
                  <a:srgbClr val="F8FAFC"/>
                </a:solidFill>
                <a:latin typeface="Segoe UI"/>
              </a:rPr>
              <a:t>You don't ask OSHAL a question — you hand it a ticket.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900" b="1">
                <a:solidFill>
                  <a:srgbClr val="F8FAFC"/>
                </a:solidFill>
                <a:latin typeface="Segoe UI"/>
              </a:rPr>
              <a:t>It spins up a swarm of specialist bots</a:t>
            </a:r>
            <a:r>
              <a:rPr sz="1600" b="0">
                <a:solidFill>
                  <a:srgbClr val="94A3B8"/>
                </a:solidFill>
                <a:latin typeface="Segoe UI"/>
              </a:rPr>
              <a:t>  —  each a different vendor's runtime on a different model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900" b="1">
                <a:solidFill>
                  <a:srgbClr val="F8FAFC"/>
                </a:solidFill>
                <a:latin typeface="Segoe UI"/>
              </a:rPr>
              <a:t>They collaborate over a mesh, share one workspace, return a finished deliverable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900" b="1">
                <a:solidFill>
                  <a:srgbClr val="F8FAFC"/>
                </a:solidFill>
                <a:latin typeface="Segoe UI"/>
              </a:rPr>
              <a:t>Every call is cost-tracked, observable, and governed by the platform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900" b="1">
                <a:solidFill>
                  <a:srgbClr val="F8FAFC"/>
                </a:solidFill>
                <a:latin typeface="Segoe UI"/>
              </a:rPr>
              <a:t>You add agents, tools, workflows, and whole apps while it's running</a:t>
            </a:r>
            <a:r>
              <a:rPr sz="1600" b="0">
                <a:solidFill>
                  <a:srgbClr val="94A3B8"/>
                </a:solidFill>
                <a:latin typeface="Segoe UI"/>
              </a:rPr>
              <a:t>  —  no rebuild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The gap in agent systems was never prompting.  The gap was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Why most agent projects stall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AE6FD"/>
                </a:solidFill>
                <a:latin typeface="Segoe UI"/>
              </a:rPr>
              <a:t>A demo is one prompt and one model. Production needs all of this at once: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20040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DD3FC"/>
                </a:solidFill>
                <a:latin typeface="Segoe UI"/>
              </a:rPr>
              <a:t>Production demands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Multiple specialized agents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Per-agent tool permissions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Runtime observability &amp; cost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Workflow lifecycle &amp; gates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Containerized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94960" cy="320040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DD3FC"/>
                </a:solidFill>
                <a:latin typeface="Segoe UI"/>
              </a:rPr>
              <a:t>Where stacks break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App packaging &amp; versioning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Repeatable validation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Vendor flexibility (not one model)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A way to grow without redeploying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•  Demo → production, not demo-only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10881360" cy="685800"/>
          </a:xfrm>
          <a:prstGeom prst="roundRect">
            <a:avLst>
              <a:gd name="adj" fmla="val 9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Teams end up with a single chatbot-with-tools, or a brittle pile of scripts. Neither survives a real workload.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The OSHAL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Treat agents as runtime infrastructure — not hardcoded helpers.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9584" cy="310896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7DD3FC"/>
                </a:solidFill>
                <a:latin typeface="Segoe UI"/>
              </a:rPr>
              <a:t>Any harness, any model — per bot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Segoe UI"/>
              </a:rPr>
              <a:t>One ticket can cross OpenAI → Anthropic → Google, coordinated as one swarm.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828800"/>
            <a:ext cx="3529584" cy="310896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7DD3FC"/>
                </a:solidFill>
                <a:latin typeface="Segoe UI"/>
              </a:rPr>
              <a:t>The persona IS the swarm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Segoe UI"/>
              </a:rPr>
              <a:t>Each bot's persona embeds its own quality gate — no separate reviewer by default.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828800"/>
            <a:ext cx="3529584" cy="310896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7DD3FC"/>
                </a:solidFill>
                <a:latin typeface="Segoe UI"/>
              </a:rPr>
              <a:t>The platform is live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Segoe UI"/>
              </a:rPr>
              <a:t>Apps, tools, agents and workflows register at runtime and appear in the swarm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94560" y="1188720"/>
            <a:ext cx="5669280" cy="4114800"/>
          </a:xfrm>
          <a:prstGeom prst="roundRect">
            <a:avLst>
              <a:gd name="adj" fmla="val 3000"/>
            </a:avLst>
          </a:prstGeom>
          <a:solidFill>
            <a:srgbClr val="0A1228"/>
          </a:solidFill>
          <a:ln w="15875">
            <a:solidFill>
              <a:srgbClr val="34D3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1243584"/>
            <a:ext cx="365760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OSHAL swarm — one Docker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81328"/>
            <a:ext cx="5303520" cy="1243584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SWARM CONTROLLER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orchestrates · never calls an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2011680"/>
            <a:ext cx="1188720" cy="58521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8FAFC"/>
                </a:solidFill>
                <a:latin typeface="Segoe UI"/>
              </a:rPr>
              <a:t>Queue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011680"/>
            <a:ext cx="1188720" cy="58521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8FAFC"/>
                </a:solidFill>
                <a:latin typeface="Segoe UI"/>
              </a:rPr>
              <a:t>Phase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011680"/>
            <a:ext cx="1188720" cy="58521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8FAFC"/>
                </a:solidFill>
                <a:latin typeface="Segoe UI"/>
              </a:rPr>
              <a:t>Ticket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2011680"/>
            <a:ext cx="1188720" cy="58521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8FAFC"/>
                </a:solidFill>
                <a:latin typeface="Segoe UI"/>
              </a:rPr>
              <a:t>Cost Rollup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892040" y="2724912"/>
            <a:ext cx="310896" cy="128016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2871216"/>
            <a:ext cx="5303520" cy="402336"/>
          </a:xfrm>
          <a:prstGeom prst="roundRect">
            <a:avLst>
              <a:gd name="adj" fmla="val 9000"/>
            </a:avLst>
          </a:prstGeom>
          <a:solidFill>
            <a:srgbClr val="34D399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Segoe UI"/>
              </a:rPr>
              <a:t>Redis mesh   ·   XADD / XREADGROUP / XACK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3474720"/>
            <a:ext cx="1645920" cy="11887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Bot node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persona + quality gate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DD3FC"/>
                </a:solidFill>
                <a:latin typeface="Segoe UI"/>
              </a:rPr>
              <a:t>Codex CLI · OpenAI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18688" y="3273552"/>
            <a:ext cx="0" cy="201168"/>
          </a:xfrm>
          <a:prstGeom prst="line">
            <a:avLst/>
          </a:prstGeom>
          <a:ln w="20320">
            <a:solidFill>
              <a:srgbClr val="34D39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87952" y="3474720"/>
            <a:ext cx="1645920" cy="11887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Bot node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persona + quality gate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DD3FC"/>
                </a:solidFill>
                <a:latin typeface="Segoe UI"/>
              </a:rPr>
              <a:t>Claude Code · Anthropic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010912" y="3273552"/>
            <a:ext cx="0" cy="201168"/>
          </a:xfrm>
          <a:prstGeom prst="line">
            <a:avLst/>
          </a:prstGeom>
          <a:ln w="20320">
            <a:solidFill>
              <a:srgbClr val="34D39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80176" y="3474720"/>
            <a:ext cx="1645920" cy="11887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Bot node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persona + quality gate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DD3FC"/>
                </a:solidFill>
                <a:latin typeface="Segoe UI"/>
              </a:rPr>
              <a:t>Gemini CLI · Google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803136" y="3273552"/>
            <a:ext cx="0" cy="201168"/>
          </a:xfrm>
          <a:prstGeom prst="line">
            <a:avLst/>
          </a:prstGeom>
          <a:ln w="20320">
            <a:solidFill>
              <a:srgbClr val="34D39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4754880"/>
            <a:ext cx="5303520" cy="292608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AE6FD"/>
                </a:solidFill>
                <a:latin typeface="Segoe UI"/>
              </a:rPr>
              <a:t>Each bot picks its own harness · provider · model — mixed vendors, one swarm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783080"/>
            <a:ext cx="1600200" cy="82296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Operator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submits a ticket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75104" y="2057400"/>
            <a:ext cx="384048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417320"/>
            <a:ext cx="1874519" cy="713232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Postgres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tickets · cost · work items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0" y="1773936"/>
            <a:ext cx="457200" cy="0"/>
          </a:xfrm>
          <a:prstGeom prst="line">
            <a:avLst/>
          </a:prstGeom>
          <a:ln w="19050">
            <a:solidFill>
              <a:srgbClr val="7DD3F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04120" y="2395728"/>
            <a:ext cx="1920240" cy="896112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Deliverable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artifacts · reports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tested code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863840" y="2834640"/>
            <a:ext cx="2240280" cy="914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21040" y="2542032"/>
            <a:ext cx="1737360" cy="2743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results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520440"/>
            <a:ext cx="1874519" cy="713232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ChromaDB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RAG / swarm memory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3840" y="3877056"/>
            <a:ext cx="274320" cy="0"/>
          </a:xfrm>
          <a:prstGeom prst="line">
            <a:avLst/>
          </a:prstGeom>
          <a:ln w="19050">
            <a:solidFill>
              <a:srgbClr val="7DD3F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77440" y="5532120"/>
            <a:ext cx="2651760" cy="6400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Remote / edge agent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via A2A · Headscale — local MCP on a PC/Mac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11880" y="5303520"/>
            <a:ext cx="0" cy="228600"/>
          </a:xfrm>
          <a:prstGeom prst="line">
            <a:avLst/>
          </a:prstGeom>
          <a:ln w="20320">
            <a:solidFill>
              <a:srgbClr val="BAE6FD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20640" y="553212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AE6FD"/>
                </a:solidFill>
                <a:latin typeface="Segoe UI"/>
              </a:rPr>
              <a:t>Harnesses: Cline · Codex CLI · Claude Code · Gemini CLI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→  40+ providers (OpenAI · Anthropic · Google · Bedrock · Azure · self-hosted Ollama / LM Studio)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   ·   controller orchestrates · bot nodes execute · any harness, any provider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Four layers, one Docker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325880"/>
            <a:ext cx="9235440" cy="841248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DD3FC"/>
                </a:solidFill>
                <a:latin typeface="Segoe UI"/>
              </a:rPr>
              <a:t>L4 · UI    </a:t>
            </a:r>
            <a:r>
              <a:rPr sz="1300" b="0">
                <a:solidFill>
                  <a:srgbClr val="F8FAFC"/>
                </a:solidFill>
                <a:latin typeface="Segoe UI"/>
              </a:rPr>
              <a:t>Cockpit dashboard + code-server workspace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276856"/>
            <a:ext cx="9235440" cy="841248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L3 · Swarm controller    </a:t>
            </a:r>
            <a:r>
              <a:rPr sz="1300" b="0">
                <a:solidFill>
                  <a:srgbClr val="F8FAFC"/>
                </a:solidFill>
                <a:latin typeface="Segoe UI"/>
              </a:rPr>
              <a:t>queue manager · routing · mesh · ticketing — never calls an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227832"/>
            <a:ext cx="9235440" cy="841248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L2 · Bot nodes    </a:t>
            </a:r>
            <a:r>
              <a:rPr sz="1300" b="0">
                <a:solidFill>
                  <a:srgbClr val="F8FAFC"/>
                </a:solidFill>
                <a:latin typeface="Segoe UI"/>
              </a:rPr>
              <a:t>own ALL LLM execution · heartbeats · per-call cost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178808"/>
            <a:ext cx="9235440" cy="841248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DD3FC"/>
                </a:solidFill>
                <a:latin typeface="Segoe UI"/>
              </a:rPr>
              <a:t>L1 · Harnesses    </a:t>
            </a:r>
            <a:r>
              <a:rPr sz="1300" b="0">
                <a:solidFill>
                  <a:srgbClr val="F8FAFC"/>
                </a:solidFill>
                <a:latin typeface="Segoe UI"/>
              </a:rPr>
              <a:t>Cline · Codex CLI · Claude Code · Gemini CLI (+ noop)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129784"/>
            <a:ext cx="9235440" cy="841248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DD3FC"/>
                </a:solidFill>
                <a:latin typeface="Segoe UI"/>
              </a:rPr>
              <a:t>L0 · Providers    </a:t>
            </a:r>
            <a:r>
              <a:rPr sz="1300" b="0">
                <a:solidFill>
                  <a:srgbClr val="F8FAFC"/>
                </a:solidFill>
                <a:latin typeface="Segoe UI"/>
              </a:rPr>
              <a:t>40+ — Anthropic, OpenAI, Google, Bedrock, Groq, Ollama…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914400" cy="4572000"/>
          </a:xfrm>
          <a:prstGeom prst="roundRect">
            <a:avLst>
              <a:gd name="adj" fmla="val 12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Segoe UI"/>
              </a:rPr>
              <a:t>one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989320"/>
            <a:ext cx="10972800" cy="36576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bot-entrypoint.sh reads BOT_RUNTIME to pick the role — same artifact, any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The differentiator: mix-mode swarms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AE6FD"/>
                </a:solidFill>
                <a:latin typeface="Segoe UI"/>
              </a:rPr>
              <a:t>Every bot independently picks its harness, provider, and model — in one ticket: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737360" cy="1097280"/>
          </a:xfrm>
          <a:prstGeom prst="roundRect">
            <a:avLst>
              <a:gd name="adj" fmla="val 9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1020"/>
                </a:solidFill>
                <a:latin typeface="Segoe UI"/>
              </a:rPr>
              <a:t>TICKET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1984248"/>
            <a:ext cx="640080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1783080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DD3FC"/>
                </a:solidFill>
                <a:latin typeface="Segoe UI"/>
              </a:rPr>
              <a:t>code-developer   </a:t>
            </a:r>
            <a:r>
              <a:rPr sz="1300" b="0">
                <a:solidFill>
                  <a:srgbClr val="F8FAFC"/>
                </a:solidFill>
                <a:latin typeface="Segoe UI"/>
              </a:rPr>
              <a:t>codex-cli · OpenAI · gpt-5.x-codex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2825496"/>
            <a:ext cx="640080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624328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DD3FC"/>
                </a:solidFill>
                <a:latin typeface="Segoe UI"/>
              </a:rPr>
              <a:t>code-reviewer   </a:t>
            </a:r>
            <a:r>
              <a:rPr sz="1300" b="0">
                <a:solidFill>
                  <a:srgbClr val="F8FAFC"/>
                </a:solidFill>
                <a:latin typeface="Segoe UI"/>
              </a:rPr>
              <a:t>claude-code · Anthropic · Sonnet 4.6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4600" y="3666744"/>
            <a:ext cx="640080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3465576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DD3FC"/>
                </a:solidFill>
                <a:latin typeface="Segoe UI"/>
              </a:rPr>
              <a:t>research-bot   </a:t>
            </a:r>
            <a:r>
              <a:rPr sz="1300" b="0">
                <a:solidFill>
                  <a:srgbClr val="F8FAFC"/>
                </a:solidFill>
                <a:latin typeface="Segoe UI"/>
              </a:rPr>
              <a:t>gemini-cli · Google · Gemini 2.5 Pro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14600" y="4507992"/>
            <a:ext cx="640080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4306824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DD3FC"/>
                </a:solidFill>
                <a:latin typeface="Segoe UI"/>
              </a:rPr>
              <a:t>test-engineer   </a:t>
            </a:r>
            <a:r>
              <a:rPr sz="1300" b="0">
                <a:solidFill>
                  <a:srgbClr val="F8FAFC"/>
                </a:solidFill>
                <a:latin typeface="Segoe UI"/>
              </a:rPr>
              <a:t>cline · OpenAI-native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86400"/>
            <a:ext cx="10881360" cy="64008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The dispatcher doesn't know or care which vendor is on the other side — the persona file is the contract.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The persona IS the swarm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8FAFC"/>
                </a:solidFill>
                <a:latin typeface="Segoe UI"/>
              </a:rPr>
              <a:t>By default, one workerBot per ticket type — its persona YAML carries the whole quality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Mode A/B/C output classification (answer · artifact · escalation)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Citation rules (RAG doc_id, web: provenance)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A required artifact set (HANDOVER.md, RCA reports, scripts)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A 5-section escalation packet when it can't self-gate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No external reviewer bot by default — the persona reviews itself. Reviewer-grade output from one bot.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(Manifests can still opt in to reviewerBot + maxRevisions when a worker genuinely can't self-gate.)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How work flows — the envelope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Poll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approved tickets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72384" y="187909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Decompose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select agents per phase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07024" y="187909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Dispatch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XADD to mesh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41664" y="187909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155448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Pick up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XREADGROUP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Assemble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persona + handovers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2384" y="357073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324612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Execute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harness → provider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07024" y="357073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24612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ACK + record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tokens + cost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1664" y="357073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3246120"/>
            <a:ext cx="2377440" cy="9601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8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Advance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next phase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0060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AE6FD"/>
                </a:solidFill>
                <a:latin typeface="Segoe UI"/>
              </a:rPr>
              <a:t>Channels: oshal:mesh:agent.{id}  (XADD / XREADGROUP / XACK)   ·   heartbeats: oshal:runtime-agent:{id} every 30s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Cost lands in the chat_tasks table — the canonical $ source, not a log estimate.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Swarm interaction — swimlane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920240" cy="841248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Segoe UI"/>
              </a:rPr>
              <a:t>Operator /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325880"/>
            <a:ext cx="9219895" cy="841248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58568"/>
            <a:ext cx="1920240" cy="8412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Segoe UI"/>
              </a:rP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258568"/>
            <a:ext cx="9219895" cy="841248"/>
          </a:xfrm>
          <a:prstGeom prst="roundRect">
            <a:avLst>
              <a:gd name="adj" fmla="val 4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91256"/>
            <a:ext cx="1920240" cy="841248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Segoe UI"/>
              </a:rPr>
              <a:t>Redis mesh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191256"/>
            <a:ext cx="9219895" cy="841248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23944"/>
            <a:ext cx="1920240" cy="84124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Segoe UI"/>
              </a:rPr>
              <a:t>Bot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4123944"/>
            <a:ext cx="9219895" cy="841248"/>
          </a:xfrm>
          <a:prstGeom prst="roundRect">
            <a:avLst>
              <a:gd name="adj" fmla="val 4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56632"/>
            <a:ext cx="1920240" cy="841248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Segoe UI"/>
              </a:rPr>
              <a:t>Workspace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5056632"/>
            <a:ext cx="9219895" cy="841248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435607"/>
            <a:ext cx="1311097" cy="62179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Submit ticket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3169" y="2368296"/>
            <a:ext cx="1311097" cy="62179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Queue + route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48858" y="3300984"/>
            <a:ext cx="1311097" cy="62179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Envelope XADD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4547" y="4233672"/>
            <a:ext cx="1311097" cy="62179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Persona + execute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0236" y="5166360"/>
            <a:ext cx="1311097" cy="62179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Write artifacts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75926" y="2368296"/>
            <a:ext cx="1311097" cy="62179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Advance / deliver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08577" y="1746503"/>
            <a:ext cx="164592" cy="932688"/>
          </a:xfrm>
          <a:prstGeom prst="line">
            <a:avLst/>
          </a:prstGeom>
          <a:ln w="2032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4266" y="2679191"/>
            <a:ext cx="164592" cy="932689"/>
          </a:xfrm>
          <a:prstGeom prst="line">
            <a:avLst/>
          </a:prstGeom>
          <a:ln w="2032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59955" y="3611880"/>
            <a:ext cx="164592" cy="932688"/>
          </a:xfrm>
          <a:prstGeom prst="line">
            <a:avLst/>
          </a:prstGeom>
          <a:ln w="2032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35644" y="4544568"/>
            <a:ext cx="164592" cy="932688"/>
          </a:xfrm>
          <a:prstGeom prst="line">
            <a:avLst/>
          </a:prstGeom>
          <a:ln w="2032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11334" y="2679191"/>
            <a:ext cx="164592" cy="2798065"/>
          </a:xfrm>
          <a:prstGeom prst="line">
            <a:avLst/>
          </a:prstGeom>
          <a:ln w="2032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   ·   actors as lanes · steps flow left-to-right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Two coordination paths: mesh vs A2A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49240" cy="54864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INSIDE the swarm — Redis 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011680" cy="7315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2011680" cy="7315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Bot node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240280"/>
            <a:ext cx="822959" cy="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926080" y="2514600"/>
            <a:ext cx="822959" cy="0"/>
          </a:xfrm>
          <a:prstGeom prst="line">
            <a:avLst/>
          </a:prstGeom>
          <a:ln w="22225">
            <a:solidFill>
              <a:srgbClr val="7DD3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880360"/>
            <a:ext cx="4846320" cy="2743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AE6FD"/>
                </a:solidFill>
                <a:latin typeface="Segoe UI"/>
              </a:rPr>
              <a:t>Redis Streams · XADD / XREADGROUP / XACK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37560"/>
            <a:ext cx="4846320" cy="17830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oshal:mesh:agent.{id}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direct · alias · broadcast · capabilities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consumer groups: swarm-execution / swarm-workers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each bot consumes its own stream — no proxy bottleneck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49240" cy="54864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C96B"/>
                </a:solidFill>
                <a:latin typeface="Segoe UI"/>
              </a:rPr>
              <a:t>ACROSS machines — A2A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2011680" cy="7315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Swarm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011680" cy="73152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Remote / edge 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2377440"/>
            <a:ext cx="822960" cy="0"/>
          </a:xfrm>
          <a:prstGeom prst="line">
            <a:avLst/>
          </a:prstGeom>
          <a:ln w="22225">
            <a:solidFill>
              <a:srgbClr val="F5C9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92240" y="2880360"/>
            <a:ext cx="4846320" cy="2743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AE6FD"/>
                </a:solidFill>
                <a:latin typeface="Segoe UI"/>
              </a:rPr>
              <a:t>headscale-http · http · sse · stdio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337560"/>
            <a:ext cx="4846320" cy="17830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C96B"/>
                </a:solidFill>
                <a:latin typeface="Segoe UI"/>
              </a:rPr>
              <a:t>src/shared/types/a2a.ts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intents: mcp.initialize · list-tools · call-tool · shutdown · status.sync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remote-client MCP bridge over a Headscale overlay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gateway is in-flight — see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49240"/>
            <a:ext cx="10927080" cy="566928"/>
          </a:xfrm>
          <a:prstGeom prst="roundRect">
            <a:avLst>
              <a:gd name="adj" fmla="val 9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In-swarm bots talk over the mesh. External / remote agents join over A2A. Same swarm, two transports.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Three tool tiers per 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8229600" cy="1097280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94A3B8"/>
                </a:solidFill>
                <a:latin typeface="Segoe UI"/>
              </a:rPr>
              <a:t>Tier 3 · LLM-embedded tools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provider-native (e.g. built-in web search)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173736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emerging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880360"/>
            <a:ext cx="8229600" cy="1097280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7DD3FC"/>
                </a:solidFill>
                <a:latin typeface="Segoe UI"/>
              </a:rPr>
              <a:t>Tier 2 · Native harness tools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Cline / Claude / Codex file, shell,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06324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built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06240"/>
            <a:ext cx="8229600" cy="1097280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Tier 1 · Shared OSHAL registry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cross-harness · per-agent auth: auto / ask /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43891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governed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Tier 1 is governed: registry metadata → per-agent switch → runtime executor (built-in · CLI · API · MCP). Plus RAG (ChromaDB).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Build pipeline — 7 phases, complexity-gated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335024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Intake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93392" y="2651760"/>
            <a:ext cx="201168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31136" y="2194560"/>
            <a:ext cx="1335024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Planning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84448" y="2651760"/>
            <a:ext cx="201168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22192" y="2194560"/>
            <a:ext cx="1335024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Specialist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75504" y="2651760"/>
            <a:ext cx="201168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13248" y="2194560"/>
            <a:ext cx="1335024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Execution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766560" y="2651760"/>
            <a:ext cx="201168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04304" y="2194560"/>
            <a:ext cx="1335024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P5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Testing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57616" y="2651760"/>
            <a:ext cx="201168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2194560"/>
            <a:ext cx="1335024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948672" y="2651760"/>
            <a:ext cx="201168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86416" y="2194560"/>
            <a:ext cx="1335024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P7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AE6FD"/>
                </a:solidFill>
                <a:latin typeface="Segoe UI"/>
              </a:rPr>
              <a:t>Complexity gate gives each ticket only the phases it needs: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low → intake·planning·execution·delivery (4)    medium → +testing·review    high → all 7 (+ optional Phase-8 architecture pre-round)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00600"/>
            <a:ext cx="10881360" cy="384048"/>
          </a:xfrm>
          <a:prstGeom prst="roundRect">
            <a:avLst>
              <a:gd name="adj" fmla="val 9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AE6FD"/>
                </a:solidFill>
                <a:latin typeface="Segoe UI"/>
              </a:rPr>
              <a:t>Incident RCA pipeline — 3-phase, single persona-gated bot: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03520"/>
            <a:ext cx="2377440" cy="566928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Worker (investigate)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072384" y="5431536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74720" y="5303520"/>
            <a:ext cx="2377440" cy="566928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07024" y="5431536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5303520"/>
            <a:ext cx="2377440" cy="566928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Revision (if needed)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Two ways to build on OSHAL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AE6FD"/>
                </a:solidFill>
                <a:latin typeface="Segoe UI"/>
              </a:rPr>
              <a:t>Both produce the same thing — a registered swarm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3840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7DD3FC"/>
                </a:solidFill>
                <a:latin typeface="Segoe UI"/>
              </a:rPr>
              <a:t>A · Build IN the framework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You hand-author a swarm-app manifest: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bots · tools · UI ribbon · routes · workflow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You design the swarm.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AE6FD"/>
                </a:solidFill>
                <a:latin typeface="Segoe UI"/>
              </a:rPr>
              <a:t>Example → Little Monsters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349240" cy="3840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B · Generate VIA packing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An OSHAL agent interviews you and emits 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complete single-purpose bot: persona + manifest + KB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The framework builds the swarm.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AE6FD"/>
                </a:solidFill>
                <a:latin typeface="Segoe UI"/>
              </a:rPr>
              <a:t>Examples → email-summarizer · Federal Capture · job-hunter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15000"/>
            <a:ext cx="10881360" cy="502920"/>
          </a:xfrm>
          <a:prstGeom prst="roundRect">
            <a:avLst>
              <a:gd name="adj" fmla="val 9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Hand-craft for a multi-bot product. Pack when one business process should become an agent — fast.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Mode A — Little Monsters (built IN the framework)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AE6FD"/>
                </a:solidFill>
                <a:latin typeface="Segoe UI"/>
              </a:rPr>
              <a:t>A voice-first ADHD study companion for K-12 — one manifest, a full product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600" b="1">
                <a:solidFill>
                  <a:srgbClr val="F8FAFC"/>
                </a:solidFill>
                <a:latin typeface="Segoe UI"/>
              </a:rPr>
              <a:t>Six education bots (lecture-scribe, tutor, quiz-master, librarian, study-coach, writing-coach)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600" b="1">
                <a:solidFill>
                  <a:srgbClr val="F8FAFC"/>
                </a:solidFill>
                <a:latin typeface="Segoe UI"/>
              </a:rPr>
              <a:t>Custom ribbon UI + per-class dynamic UI (one icon per active class)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600" b="1">
                <a:solidFill>
                  <a:srgbClr val="F8FAFC"/>
                </a:solidFill>
                <a:latin typeface="Segoe UI"/>
              </a:rPr>
              <a:t>A new education workflow as its own ticket type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600" b="1">
                <a:solidFill>
                  <a:srgbClr val="F8FAFC"/>
                </a:solidFill>
                <a:latin typeface="Segoe UI"/>
              </a:rPr>
              <a:t>RAG-grounded Socratic tutor (each class's textbook)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600" b="1">
                <a:solidFill>
                  <a:srgbClr val="F8FAFC"/>
                </a:solidFill>
                <a:latin typeface="Segoe UI"/>
              </a:rPr>
              <a:t>Toggling the app activates/deactivates all six bots + ribbon — without stopping containers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881360" cy="54864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This is the “I want to design a multi-bot app”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Mode B — packing: a process becomes a 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Operator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~8-question interview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88920" y="1856231"/>
            <a:ext cx="548640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codex-packer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chat agent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15000" y="1856231"/>
            <a:ext cx="548640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emits 3 artifacts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persona YAML  (the quality gate)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swarm-apps/&lt;slug&gt;.yaml  (ticket type + UI)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optional kb/ corpus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8240" y="2880360"/>
            <a:ext cx="310896" cy="4572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3429000"/>
            <a:ext cx="5212080" cy="73152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POST /api/swarm/apps/load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8240" y="4206240"/>
            <a:ext cx="310896" cy="4572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4709160"/>
            <a:ext cx="5212080" cy="731520"/>
          </a:xfrm>
          <a:prstGeom prst="roundRect">
            <a:avLst>
              <a:gd name="adj" fmla="val 9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 new single-purpose bot — live in the cockpit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5212080" cy="246888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DD3FC"/>
                </a:solidFill>
                <a:latin typeface="Segoe UI"/>
              </a:rPr>
              <a:t>The business process IS the agent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Predefined inputs, baked-in rules, correct by construction. The same idea as one-bot-per-ticket-type, applied deliberately to a whole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Mode B in the wild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9584" cy="3383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email-summarizer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Literally emitted by codex-packer. Daily Gmail + Calendar digest for one Workspace. Read-only by default.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554480"/>
            <a:ext cx="3529584" cy="3383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Federal Capture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Packs an entire gov-contracting capture → proposal pipeline into ONE capture-specialist bot. RFP in → bid/no-bid + 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554480"/>
            <a:ext cx="3529584" cy="3383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job-hunter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The same packing pattern shipped as a standalone product: framework-generated agents — OSHAL is the invisible how.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10881360" cy="594360"/>
          </a:xfrm>
          <a:prstGeom prst="roundRect">
            <a:avLst>
              <a:gd name="adj" fmla="val 9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Build-in gives you Little Monsters. Packing gives you a fleet of focused, self-contained bots.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Dynamic bot registration (the live expansion loop)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AE6FD"/>
                </a:solidFill>
                <a:latin typeface="Segoe UI"/>
              </a:rPr>
              <a:t>New capability enters a RUNNING swarm — no rebuild: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Register tool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/api/tools/runtime/register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72384" y="203911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69164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Create agent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/api/swarm/agents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07024" y="203911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Assign tool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auth: auto/ask/off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41664" y="2039112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169164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Generate persona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YAML on disk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Launch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/api/agents/:id/launch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2384" y="3593591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324612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Compose service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oshal-bot · joins oshal net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07024" y="3593591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24612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Heartbeat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oshal:runtime-agent:{id}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41664" y="3593591"/>
            <a:ext cx="347472" cy="310896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3246120"/>
            <a:ext cx="2377440" cy="100584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8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Mesh + registry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subscribed &amp; discoverable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Static bots live in the registry (26) + a compose service, UUID-matched across compose · registry · Redis · Postgres.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Benchmark: 18 tools + 18 agents + 18 containers created, healthy, mesh-subscribed in ~52s — zero residue on cleanup.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   ·   this loop is the line between a starter repo and a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The swim lanes — apps already on OSHAL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657600" cy="457200"/>
          </a:xfrm>
          <a:prstGeom prst="roundRect">
            <a:avLst>
              <a:gd name="adj" fmla="val 4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2011680" cy="457200"/>
          </a:xfrm>
          <a:prstGeom prst="roundRect">
            <a:avLst>
              <a:gd name="adj" fmla="val 4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029200" cy="457200"/>
          </a:xfrm>
          <a:prstGeom prst="roundRect">
            <a:avLst>
              <a:gd name="adj" fmla="val 4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What it proves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83664"/>
            <a:ext cx="36576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oshal-engineering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83664"/>
            <a:ext cx="201168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Segoe UI"/>
              </a:rPr>
              <a:t>build-in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83664"/>
            <a:ext cx="50292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the build swarm + Workflow Studio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36576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issue-rca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42032"/>
            <a:ext cx="201168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Segoe UI"/>
              </a:rPr>
              <a:t>build-in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42032"/>
            <a:ext cx="50292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domain RCA as a one-and-done ticket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36576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little-monsters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00400"/>
            <a:ext cx="201168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Segoe UI"/>
              </a:rPr>
              <a:t>build-in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200400"/>
            <a:ext cx="50292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6 bots + custom &amp; dynamic ribbon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58768"/>
            <a:ext cx="36576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capture-crm / federal-capture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58768"/>
            <a:ext cx="201168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858768"/>
            <a:ext cx="50292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a full CRM pipeline packed into one bot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17136"/>
            <a:ext cx="36576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email-summarizer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517136"/>
            <a:ext cx="201168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517136"/>
            <a:ext cx="50292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codex-packer output, end to 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75503"/>
            <a:ext cx="36576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codex-packer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175503"/>
            <a:ext cx="201168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C96B"/>
                </a:solidFill>
                <a:latin typeface="Segoe UI"/>
              </a:rPr>
              <a:t>meta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5175503"/>
            <a:ext cx="5029200" cy="603504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the bot that builds the bots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   ·   one framework contract, reused across very different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OSHAL 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agent harnesses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40+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LLM providers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26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swarm bots (+19 full)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46304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68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persona definitions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31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standard tools / 16 cats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33756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9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example swarm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3756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~115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services, full swarm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3337560"/>
            <a:ext cx="2606040" cy="15544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Segoe UI"/>
              </a:rPr>
              <a:t>~52s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18 bots inserted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12080"/>
            <a:ext cx="10881360" cy="77724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4D399"/>
                </a:solidFill>
                <a:latin typeface="Segoe UI"/>
              </a:rPr>
              <a:t>$1.30 (n=1) vs $4.05 (n=7)</a:t>
            </a:r>
            <a:r>
              <a:rPr sz="1300" b="1">
                <a:solidFill>
                  <a:srgbClr val="F8FAFC"/>
                </a:solidFill>
                <a:latin typeface="Segoe UI"/>
              </a:rPr>
              <a:t>   per real incident RCA, one workload — not a benchmark  </a:t>
            </a:r>
            <a:r>
              <a:rPr sz="1800" b="1">
                <a:solidFill>
                  <a:srgbClr val="7DD3FC"/>
                </a:solidFill>
                <a:latin typeface="Segoe UI"/>
              </a:rPr>
              <a:t>(−68%)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   ·   every number is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Proof — economics + live insertion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49240" cy="402336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7DD3FC"/>
                </a:solidFill>
                <a:latin typeface="Segoe UI"/>
              </a:rPr>
              <a:t>The economics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Segoe UI"/>
              </a:rPr>
              <a:t>2-bot worker→reviewer pipeline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94A3B8"/>
                </a:solidFill>
                <a:latin typeface="Segoe UI"/>
              </a:rPr>
              <a:t>$4.05 (n=7)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Segoe UI"/>
              </a:rPr>
              <a:t>OSHAL single persona-gated bot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34D399"/>
                </a:solidFill>
                <a:latin typeface="Segoe UI"/>
              </a:rPr>
              <a:t>$1.30 (n=1)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≈ 68% lower — reviewer-grade output from one bot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one workload, one corpus, one model — not a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349240" cy="402336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The live-insertion benchmark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Segoe UI"/>
              </a:rPr>
              <a:t>18 runtime tools · 18 agents · 18 containers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all healthy · heartbeating · registry-visible · mesh-subscribed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34D399"/>
                </a:solidFill>
                <a:latin typeface="Segoe UI"/>
              </a:rPr>
              <a:t>~52s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API → Redis → Docker · cleanup left zero residue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   ·   cost read from chat_tasks · benchmark repeatable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Redis queues &amp; schedulers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41148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DD3FC"/>
                </a:solidFill>
                <a:latin typeface="Segoe UI"/>
              </a:rPr>
              <a:t>Redis Streams mesh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XADD / XREADGROUP / XACK · consumer groups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at-least-once, horizontally scalable consumers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Keys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oshal:mesh:agent.{id}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oshal:runtime-agent:{id}  (TTL 2h)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oshal:scheduler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oshal:subtask-registry:{parent}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349240" cy="41148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Cron scheduling + self-healing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features/scheduling: cron-parser + runner + redis store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surfaced as the agent-scheduler standard tool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Autonomous timers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heartbeats (30s) · hourly re-register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stuck-agent watchdog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agent-health-monitor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stale mesh-channel cleanup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Deployment configs &amp;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DD3FC"/>
                </a:solidFill>
                <a:latin typeface="Segoe UI"/>
              </a:rPr>
              <a:t>Local / core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11 services — cockpit/chat/API + Postgres/Redis/Chroma</a:t>
            </a:r>
          </a:p>
        </p:txBody>
      </p:sp>
      <p:sp>
        <p:nvSpPr>
          <p:cNvPr id="6" name="Down Arrow 5"/>
          <p:cNvSpPr/>
          <p:nvPr/>
        </p:nvSpPr>
        <p:spPr>
          <a:xfrm>
            <a:off x="1280160" y="2487168"/>
            <a:ext cx="310896" cy="201168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4572000" cy="9144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Full local swarm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~115 services — controller + all bot nodes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1280160" y="3630168"/>
            <a:ext cx="310896" cy="201168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DD3FC"/>
                </a:solidFill>
                <a:latin typeface="Segoe UI"/>
              </a:rPr>
              <a:t>Kubernetes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ops/deployment/kubernetes + any-bot-k8s · Headscale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554480"/>
            <a:ext cx="4297680" cy="370332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Scale levers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per-bot containers — independent workers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Stream consumer groups — add consumers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one image, runtime switch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K8s for elastic scale; watchdogs self-heal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laptop → cluster · frontier → self-hosted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Remote client &amp; edge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AE6FD"/>
                </a:solidFill>
                <a:latin typeface="Segoe UI"/>
              </a:rPr>
              <a:t>A daemon on a PC/Mac runs a local MCP (stdio JSON-RPC), registers over Headscale — bidirectional: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743200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OSHAL control plane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/api/remote-clients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011680"/>
            <a:ext cx="2468880" cy="1097280"/>
          </a:xfrm>
          <a:prstGeom prst="roundRect">
            <a:avLst>
              <a:gd name="adj" fmla="val 9000"/>
            </a:avLst>
          </a:prstGeom>
          <a:solidFill>
            <a:srgbClr val="0E1730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C96B"/>
                </a:solidFill>
                <a:latin typeface="Segoe UI"/>
              </a:rPr>
              <a:t>Headscale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private overlay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011680"/>
            <a:ext cx="2743200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Endpoint daemon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+ local MCP server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2377440"/>
            <a:ext cx="1371600" cy="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2377440"/>
            <a:ext cx="1371600" cy="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315200" y="2788920"/>
            <a:ext cx="1371600" cy="0"/>
          </a:xfrm>
          <a:prstGeom prst="line">
            <a:avLst/>
          </a:prstGeom>
          <a:ln w="22225">
            <a:solidFill>
              <a:srgbClr val="7DD3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474720" y="2788920"/>
            <a:ext cx="1371600" cy="0"/>
          </a:xfrm>
          <a:prstGeom prst="line">
            <a:avLst/>
          </a:prstGeom>
          <a:ln w="22225">
            <a:solidFill>
              <a:srgbClr val="7DD3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657600"/>
            <a:ext cx="5303520" cy="18288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Mode 1 — talks TO the swarm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AE6FD"/>
                </a:solidFill>
                <a:latin typeface="Segoe UI"/>
              </a:rPr>
              <a:t>POST /api/remote-clients/:id/swarm/send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(direct or broadcast) — your desktop participates in the swarm.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03520" cy="182880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C96B"/>
                </a:solidFill>
                <a:latin typeface="Segoe UI"/>
              </a:rPr>
              <a:t>Mode 2 — IS an agent of the swarm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mesh/A2A envelope → bridge → remote-client queue → local MCP →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result returns as a mesh reply. edge-agent = lightweight variant.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intents: initialize · list-tools · call-tool · shutdown · status.sync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   ·   secured by private overlay + session/shared-secret; MCP stays on the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Why it's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7498079" cy="502920"/>
          </a:xfrm>
          <a:prstGeom prst="roundRect">
            <a:avLst>
              <a:gd name="adj" fmla="val 4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1554480" cy="502920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OSHAL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371600"/>
            <a:ext cx="1645920" cy="502920"/>
          </a:xfrm>
          <a:prstGeom prst="roundRect">
            <a:avLst>
              <a:gd name="adj" fmla="val 4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020"/>
                </a:solidFill>
                <a:latin typeface="Segoe UI"/>
              </a:rPr>
              <a:t>Typical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7498079" cy="676656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Multi-vendor runtimes in one swarm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938528"/>
            <a:ext cx="155448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938528"/>
            <a:ext cx="164592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7498079" cy="676656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Runtime app / tool / agent registration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688336"/>
            <a:ext cx="155448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688336"/>
            <a:ext cx="164592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Rebuild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38144"/>
            <a:ext cx="7498079" cy="676656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Per-bot, per-call cost with vendor attribution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438144"/>
            <a:ext cx="155448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3438144"/>
            <a:ext cx="164592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Rare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7498079" cy="676656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Persona-as-quality-gate (no reviewer needed)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187952"/>
            <a:ext cx="155448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4187952"/>
            <a:ext cx="164592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37760"/>
            <a:ext cx="7498079" cy="676656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Pack a business process into one 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937760"/>
            <a:ext cx="155448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4937760"/>
            <a:ext cx="1645920" cy="676656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Honest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49240" cy="42976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Shipped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Mix-mode swarms, per-bot harness/model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Swarm-app manifests + hot-load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Harness packing (codex-packer)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Dynamic tool/agent/bot insertion (Docker)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Redis mesh, heartbeats, cost telemetry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Build + incident pipelines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Windows / Docker / K8s; local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349240" cy="42976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F5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5C96B"/>
                </a:solidFill>
                <a:latin typeface="Segoe UI"/>
              </a:rPr>
              <a:t>In flight / planned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8FAFC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Workflow Studio compile-to-runtime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Agentic Workflow Studio (describe → build)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A2A gateway for external agents (prod proof)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One-call create-and-start agent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Haven persona-fronted home as default entry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Segoe UI"/>
              </a:rPr>
              <a:t>•  Repeatable local-LLM swarm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Full detail: ROADMAP.md (today/target) and BACKLOG.md (done-when).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7DD3FC"/>
                </a:solidFill>
                <a:latin typeface="Segoe UI"/>
              </a:rPr>
              <a:t>Summary — the story,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50976"/>
            <a:ext cx="22860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Problem</a:t>
            </a:r>
            <a:r>
              <a:rPr sz="1400" b="0">
                <a:solidFill>
                  <a:srgbClr val="94A3B8"/>
                </a:solidFill>
                <a:latin typeface="Segoe UI"/>
              </a:rPr>
              <a:t>  —  agent demos die in production; the gap is runtime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Thesis</a:t>
            </a:r>
            <a:r>
              <a:rPr sz="1400" b="0">
                <a:solidFill>
                  <a:srgbClr val="94A3B8"/>
                </a:solidFill>
                <a:latin typeface="Segoe UI"/>
              </a:rPr>
              <a:t>  —  agents as runtime infrastructure; any harness/agent/LLM in one swarm; persona is the gate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How</a:t>
            </a:r>
            <a:r>
              <a:rPr sz="1400" b="0">
                <a:solidFill>
                  <a:srgbClr val="94A3B8"/>
                </a:solidFill>
                <a:latin typeface="Segoe UI"/>
              </a:rPr>
              <a:t>  —  controller orchestrates · bot nodes execute · mesh connects · cost tracked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Build two ways</a:t>
            </a:r>
            <a:r>
              <a:rPr sz="1400" b="0">
                <a:solidFill>
                  <a:srgbClr val="94A3B8"/>
                </a:solidFill>
                <a:latin typeface="Segoe UI"/>
              </a:rPr>
              <a:t>  —  hand-author in the framework (Little Monsters) or generate via packing (email-summarizer, Federal Capture, job-hunter)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Live</a:t>
            </a:r>
            <a:r>
              <a:rPr sz="1400" b="0">
                <a:solidFill>
                  <a:srgbClr val="94A3B8"/>
                </a:solidFill>
                <a:latin typeface="Segoe UI"/>
              </a:rPr>
              <a:t>  —  apps, tools, agents register at runtime — 18 bots in ~52s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700" b="1">
                <a:solidFill>
                  <a:srgbClr val="F8FAFC"/>
                </a:solidFill>
                <a:latin typeface="Segoe UI"/>
              </a:rPr>
              <a:t>Proven &amp; honest</a:t>
            </a:r>
            <a:r>
              <a:rPr sz="1400" b="0">
                <a:solidFill>
                  <a:srgbClr val="94A3B8"/>
                </a:solidFill>
                <a:latin typeface="Segoe UI"/>
              </a:rPr>
              <a:t>  —  68% cheaper RCA; clear shipped-vs-roadmap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OSHAL — Open Swarm Harness Agent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7DD3FC"/>
                </a:solidFill>
                <a:latin typeface="Segoe UI"/>
              </a:rPr>
              <a:t>OSHAL makes agent swarms operational.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Segoe UI"/>
              </a:rPr>
              <a:t>Any harness.  Any agent.  Any LLM.  One swarm.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4206240"/>
            <a:ext cx="8869680" cy="1097280"/>
          </a:xfrm>
          <a:prstGeom prst="roundRect">
            <a:avLst>
              <a:gd name="adj" fmla="val 9000"/>
            </a:avLst>
          </a:prstGeom>
          <a:solidFill>
            <a:srgbClr val="141F3D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Demo line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“Register 18 tools, create 18 agents, launch 18 bot containers — discovered live in ~52 seconds, API to Redis to Docker.”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Ask: benchmark OSHAL on a real task workload — or pick a process and let codex-packer turn it into a live bot.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